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3056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7315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B40000"/>
                </a:solidFill>
                <a:latin typeface="微软雅黑"/>
              </a:rPr>
              <a:t>探索浩瀚宇宙  建设航天强国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01168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>
                <a:solidFill>
                  <a:srgbClr val="A00000"/>
                </a:solidFill>
                <a:latin typeface="微软雅黑"/>
              </a:rPr>
              <a:t>2024年12月12日  星期四  第一期  科技部主办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926080"/>
            <a:ext cx="41148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646464"/>
                </a:solidFill>
                <a:latin typeface="微软雅黑"/>
              </a:rPr>
              <a:t>[嫦娥五号着陆器图片]
月球表面采样示意图
（原图见源文件）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B22222"/>
                </a:solidFill>
                <a:latin typeface="微软雅黑"/>
              </a:rPr>
              <a:t>嫦娥五号——中国探月工程收官巨作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82828"/>
                </a:solidFill>
                <a:latin typeface="微软雅黑"/>
              </a:rPr>
              <a:t>2020年11月24日凌晨，我国在中国文昌航天发射场，用长征五号遥五运载火箭成功发射中国探月工程嫦娥五号探测器，该探测器作为我国探月工程重大科技专项"绕、落、回"三步走发展战略中的最后一步，主要任务是在月球表面挖取约2公斤的表面物质，并由返回器带回地球。
嫦娥五号航天器进入月轨轨道后，着陆器和上升器会与航天器分离，并下降至位于月球大洋洲Procellarum北陆地区的1300米高的火山群——吕姆克山(MonsRümker) 附近开展月球表面采样任务，收集灰尘和碎片，然后将它们送回地球。如果任务成功，它将带回自60年代美国和70年代后苏联的任务以来的首个月球物质。完成任务后，嫦娥五号飞船预计会在12月初的某个时候，以跳伞的方式落向中国北方内蒙古的四子王旗。据悉，此次嫦娥五号的发射将实现中国航天史上的五个"首次：首次将在月球表面自动采样、首次从月面起飞、首次在38万公里外的月球轨道上进行无人交会对接，首次带着月壤以接近第二宇宙速度返回地球，首次样品的存储、分析和研究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B22222"/>
                </a:solidFill>
                <a:latin typeface="微软雅黑"/>
              </a:rPr>
              <a:t>嫦娥工程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82828"/>
                </a:solidFill>
                <a:latin typeface="微软雅黑"/>
              </a:rPr>
              <a:t>2004年1月23日，时任国务院总理温家宝批准绕月探测工程立项，我国月球探测工程全面启动，并以"嫦娥奔月"神话传说中的物名为其命名，称为"嫦娥工程"。嫦娥工程分"绕"、"落"、"回"三步。"绕"即"环月探测"，"落"即"发射月面巡视车、自动机器人登陆月球，"回"即向在实现月面巡视勘探与采样后返回。嫦娥一号到嫦娥四号的先后成功发射，已圆满完成了"嫦娥工程"三步走战略中的前两步，即"绕"和"落"。此次发射的嫦娥五号，肩负着完成探月工程三步走战略的最后一步的使命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B40000"/>
                </a:solidFill>
                <a:latin typeface="微软雅黑"/>
              </a:rPr>
              <a:t>熔娥系列卫星发射时间表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280160"/>
          <a:ext cx="64008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20040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熔娥系列卫星</a:t>
                      </a:r>
                    </a:p>
                  </a:txBody>
                  <a:tcPr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发射时间</a:t>
                      </a:r>
                    </a:p>
                  </a:txBody>
                  <a:tcPr>
                    <a:solidFill>
                      <a:srgbClr val="E74C3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微软雅黑"/>
                        </a:rPr>
                        <a:t>熔娥一号</a:t>
                      </a:r>
                    </a:p>
                  </a:txBody>
                  <a:tcPr>
                    <a:solidFill>
                      <a:srgbClr val="FD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微软雅黑"/>
                        </a:rPr>
                        <a:t>2007 年 10 月 24 日</a:t>
                      </a:r>
                    </a:p>
                  </a:txBody>
                  <a:tcPr>
                    <a:solidFill>
                      <a:srgbClr val="FD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微软雅黑"/>
                        </a:rPr>
                        <a:t>熔娥二号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微软雅黑"/>
                        </a:rPr>
                        <a:t>2010 年 10 月 01 日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微软雅黑"/>
                        </a:rPr>
                        <a:t>熔娥三号</a:t>
                      </a:r>
                    </a:p>
                  </a:txBody>
                  <a:tcPr>
                    <a:solidFill>
                      <a:srgbClr val="FD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微软雅黑"/>
                        </a:rPr>
                        <a:t>2013 年 12 月 02 日</a:t>
                      </a:r>
                    </a:p>
                  </a:txBody>
                  <a:tcPr>
                    <a:solidFill>
                      <a:srgbClr val="FD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微软雅黑"/>
                        </a:rPr>
                        <a:t>熔娥四号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微软雅黑"/>
                        </a:rPr>
                        <a:t>2018 年 12 月 08 日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微软雅黑"/>
                        </a:rPr>
                        <a:t>熔娥五号</a:t>
                      </a:r>
                    </a:p>
                  </a:txBody>
                  <a:tcPr>
                    <a:solidFill>
                      <a:srgbClr val="FD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微软雅黑"/>
                        </a:rPr>
                        <a:t>2020 年 11 月 24 日</a:t>
                      </a:r>
                    </a:p>
                  </a:txBody>
                  <a:tcPr>
                    <a:solidFill>
                      <a:srgbClr val="FD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